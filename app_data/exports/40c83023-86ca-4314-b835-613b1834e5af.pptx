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Home Assistant to centralize smart home control locally. This ensures total privacy by avoiding the cloud and keeps your automations functional even if the internet goes 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hybrid approach uses Zigbee for low-bandwidth sensors and Wi-Fi for high-demand video cameras. This separation eliminates congestion, providing a stable, reliable environment for both media streaming and device control.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power strategy balances reliability and ease of use. By using mains power for the hub and cameras, we maintain a rock-solid backbone. Meanwhile, battery-powered sensors offer total freedom of placement for over fifteen different units.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basement and garage are critical areas for asset protection. In the basement, we use leak sensors to avoid damage and smart plugs for energy management. The garage relies on door sensors and cameras for verification and 24/7 monitoring.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ground floor is the nerve center of our smart home. We've positioned the Home Assistant Hub here for the best wireless range. Safety is prioritized in the kitchen, while the living room features dynamic lighting scenes to improve our social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first floor, we focus on environment control for health. Humidity sensors in bathrooms automate ventilation to stop mold growth. Zoned heating management via smart units ensures heat is used efficiently, saving up to 20% energy in bedrooms.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automation uses logic to simplify life. We cover laundry alerts via power monitoring, security triggers for 'Away' modes, and climate control for humidity. These scenarios demonstrate proactive home management beyond simple schedules.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plan details how integrating Shelly, Hue, and Aqara provides a seamless user experience. By focusing on 100% local control, we eliminate cloud dependency, improving both privacy and responsiveness.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24012ed-c96f-4efa-8f18-13d1483b0016.png"/>
          <p:cNvPicPr>
            <a:picLocks noChangeAspect="1"/>
          </p:cNvPicPr>
          <p:nvPr/>
        </p:nvPicPr>
        <p:blipFill>
          <a:blip r:embed="rId3"/>
          <a:stretch>
            <a:fillRect/>
          </a:stretch>
        </p:blipFill>
        <p:spPr>
          <a:xfrm>
            <a:off x="10401300" y="0"/>
            <a:ext cx="5854700" cy="6604000"/>
          </a:xfrm>
          <a:prstGeom prst="rect">
            <a:avLst/>
          </a:prstGeom>
        </p:spPr>
      </p:pic>
      <p:sp>
        <p:nvSpPr>
          <p:cNvPr id="3" name="Rounded Rectangle 2"/>
          <p:cNvSpPr/>
          <p:nvPr/>
        </p:nvSpPr>
        <p:spPr>
          <a:xfrm>
            <a:off x="9893300" y="3810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ounded Rectangle 3"/>
          <p:cNvSpPr/>
          <p:nvPr/>
        </p:nvSpPr>
        <p:spPr>
          <a:xfrm>
            <a:off x="9893300" y="6858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9893300" y="9906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9600" y="406400"/>
            <a:ext cx="8750300" cy="1701800"/>
          </a:xfrm>
          <a:prstGeom prst="rect">
            <a:avLst/>
          </a:prstGeom>
          <a:noFill/>
        </p:spPr>
        <p:txBody>
          <a:bodyPr wrap="square" lIns="0" rIns="0" tIns="0" bIns="0">
            <a:spAutoFit/>
          </a:bodyPr>
          <a:lstStyle/>
          <a:p>
            <a:pPr algn="l">
              <a:lnSpc>
                <a:spcPct val="75000"/>
              </a:lnSpc>
              <a:defRPr i="0" sz="6400" b="1">
                <a:solidFill>
                  <a:srgbClr val="111827"/>
                </a:solidFill>
                <a:latin typeface="Albert Sans"/>
              </a:defRPr>
            </a:pPr>
            <a:r>
              <a:rPr i="0" sz="6400" b="1">
                <a:solidFill>
                  <a:srgbClr val="111827"/>
                </a:solidFill>
                <a:latin typeface="Albert Sans"/>
              </a:rPr>
              <a:t>Empowering Your Home with Local</a:t>
            </a:r>
          </a:p>
        </p:txBody>
      </p:sp>
      <p:sp>
        <p:nvSpPr>
          <p:cNvPr id="7" name="TextBox 6"/>
          <p:cNvSpPr txBox="1"/>
          <p:nvPr/>
        </p:nvSpPr>
        <p:spPr>
          <a:xfrm>
            <a:off x="609600" y="2362200"/>
            <a:ext cx="7899400" cy="330200"/>
          </a:xfrm>
          <a:prstGeom prst="rect">
            <a:avLst/>
          </a:prstGeom>
          <a:noFill/>
        </p:spPr>
        <p:txBody>
          <a:bodyPr wrap="square" lIns="0" rIns="0" tIns="0" bIns="0">
            <a:spAutoFit/>
          </a:bodyPr>
          <a:lstStyle/>
          <a:p>
            <a:pPr algn="l">
              <a:defRPr i="0" sz="1600" b="0">
                <a:solidFill>
                  <a:srgbClr val="6B7280"/>
                </a:solidFill>
                <a:latin typeface="Albert Sans"/>
              </a:defRPr>
            </a:pPr>
            <a:r>
              <a:rPr i="0" sz="1600" b="0">
                <a:solidFill>
                  <a:srgbClr val="6B7280"/>
                </a:solidFill>
                <a:latin typeface="Albert Sans"/>
              </a:rPr>
              <a:t>Control your home with Home Assistant.</a:t>
            </a:r>
          </a:p>
        </p:txBody>
      </p:sp>
      <p:sp>
        <p:nvSpPr>
          <p:cNvPr id="8" name="Rounded Rectangle 7"/>
          <p:cNvSpPr/>
          <p:nvPr/>
        </p:nvSpPr>
        <p:spPr>
          <a:xfrm>
            <a:off x="609600" y="2997200"/>
            <a:ext cx="4406900" cy="635000"/>
          </a:xfrm>
          <a:prstGeom prst="roundRect">
            <a:avLst>
              <a:gd name="adj" fmla="val 8000"/>
            </a:avLst>
          </a:prstGeom>
          <a:solidFill>
            <a:srgbClr val="BFF4FF"/>
          </a:solidFill>
          <a:ln w="127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a:off x="825500" y="3162300"/>
            <a:ext cx="101600" cy="3048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130300" y="3162300"/>
            <a:ext cx="21082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Smart Home Solutions</a:t>
            </a:r>
          </a:p>
        </p:txBody>
      </p:sp>
      <p:sp>
        <p:nvSpPr>
          <p:cNvPr id="11" name="TextBox 10"/>
          <p:cNvSpPr txBox="1"/>
          <p:nvPr/>
        </p:nvSpPr>
        <p:spPr>
          <a:xfrm>
            <a:off x="3365500" y="3187700"/>
            <a:ext cx="14478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January 22, 2026</a:t>
            </a:r>
          </a:p>
        </p:txBody>
      </p:sp>
      <p:sp>
        <p:nvSpPr>
          <p:cNvPr id="12" name="Rounded Rectangle 11"/>
          <p:cNvSpPr/>
          <p:nvPr/>
        </p:nvSpPr>
        <p:spPr>
          <a:xfrm>
            <a:off x="914400" y="8712200"/>
            <a:ext cx="147320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ounded Rectangle 12"/>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01600"/>
            <a:ext cx="79502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Hybrid Network Architecture</a:t>
            </a:r>
          </a:p>
        </p:txBody>
      </p:sp>
      <p:sp>
        <p:nvSpPr>
          <p:cNvPr id="3" name="TextBox 2"/>
          <p:cNvSpPr txBox="1"/>
          <p:nvPr/>
        </p:nvSpPr>
        <p:spPr>
          <a:xfrm>
            <a:off x="9042400" y="101600"/>
            <a:ext cx="66294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Optimizing Connectivity</a:t>
            </a:r>
          </a:p>
        </p:txBody>
      </p:sp>
      <p:sp>
        <p:nvSpPr>
          <p:cNvPr id="4" name="TextBox 3"/>
          <p:cNvSpPr txBox="1"/>
          <p:nvPr/>
        </p:nvSpPr>
        <p:spPr>
          <a:xfrm>
            <a:off x="9042400" y="508000"/>
            <a:ext cx="6629400" cy="850900"/>
          </a:xfrm>
          <a:prstGeom prst="rect">
            <a:avLst/>
          </a:prstGeom>
          <a:noFill/>
        </p:spPr>
        <p:txBody>
          <a:bodyPr wrap="square" lIns="0" rIns="0" tIns="0" bIns="0">
            <a:spAutoFit/>
          </a:bodyPr>
          <a:lstStyle/>
          <a:p>
            <a:pPr algn="l">
              <a:lnSpc>
                <a:spcPct val="130000"/>
              </a:lnSpc>
              <a:defRPr i="0" sz="1400" b="0">
                <a:solidFill>
                  <a:srgbClr val="6B7280"/>
                </a:solidFill>
                <a:latin typeface="Albert Sans"/>
              </a:defRPr>
            </a:pPr>
            <a:r>
              <a:rPr i="0" sz="1400" b="0">
                <a:solidFill>
                  <a:srgbClr val="6B7280"/>
                </a:solidFill>
                <a:latin typeface="Albert Sans"/>
              </a:rPr>
              <a:t>Our dual-protocol strategy combines efficiency and performance. By separating tasks between Zigbee and Wi-Fi, we ensure low latency for control and high quality for media streaming across the entire home.</a:t>
            </a:r>
          </a:p>
        </p:txBody>
      </p:sp>
      <p:sp>
        <p:nvSpPr>
          <p:cNvPr id="5" name="Rounded Rectangle 4"/>
          <p:cNvSpPr/>
          <p:nvPr/>
        </p:nvSpPr>
        <p:spPr>
          <a:xfrm>
            <a:off x="15494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7cf2f2b1-e775-4448-8dec-52a7782a8fa8.png"/>
          <p:cNvPicPr>
            <a:picLocks noChangeAspect="1"/>
          </p:cNvPicPr>
          <p:nvPr/>
        </p:nvPicPr>
        <p:blipFill>
          <a:blip r:embed="rId3"/>
          <a:stretch>
            <a:fillRect/>
          </a:stretch>
        </p:blipFill>
        <p:spPr>
          <a:xfrm>
            <a:off x="2209800" y="2870200"/>
            <a:ext cx="711200" cy="711200"/>
          </a:xfrm>
          <a:prstGeom prst="rect">
            <a:avLst/>
          </a:prstGeom>
        </p:spPr>
      </p:pic>
      <p:sp>
        <p:nvSpPr>
          <p:cNvPr id="7" name="TextBox 6"/>
          <p:cNvSpPr txBox="1"/>
          <p:nvPr/>
        </p:nvSpPr>
        <p:spPr>
          <a:xfrm>
            <a:off x="1536700" y="4495800"/>
            <a:ext cx="20828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Zigbee Mesh Network</a:t>
            </a:r>
          </a:p>
        </p:txBody>
      </p:sp>
      <p:sp>
        <p:nvSpPr>
          <p:cNvPr id="8" name="TextBox 7"/>
          <p:cNvSpPr txBox="1"/>
          <p:nvPr/>
        </p:nvSpPr>
        <p:spPr>
          <a:xfrm>
            <a:off x="914400" y="4902200"/>
            <a:ext cx="3327400" cy="10541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Dedicated to low-power sensors and smart lighting, handling the majority of system devices for efficient communication.</a:t>
            </a:r>
          </a:p>
        </p:txBody>
      </p:sp>
      <p:sp>
        <p:nvSpPr>
          <p:cNvPr id="9" name="Rounded Rectangle 8"/>
          <p:cNvSpPr/>
          <p:nvPr/>
        </p:nvSpPr>
        <p:spPr>
          <a:xfrm>
            <a:off x="52578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d76cf68e-2a73-44f2-9582-1fb4f97d7fcf.png"/>
          <p:cNvPicPr>
            <a:picLocks noChangeAspect="1"/>
          </p:cNvPicPr>
          <p:nvPr/>
        </p:nvPicPr>
        <p:blipFill>
          <a:blip r:embed="rId4"/>
          <a:stretch>
            <a:fillRect/>
          </a:stretch>
        </p:blipFill>
        <p:spPr>
          <a:xfrm>
            <a:off x="5918200" y="2870200"/>
            <a:ext cx="711200" cy="711200"/>
          </a:xfrm>
          <a:prstGeom prst="rect">
            <a:avLst/>
          </a:prstGeom>
        </p:spPr>
      </p:pic>
      <p:sp>
        <p:nvSpPr>
          <p:cNvPr id="11" name="TextBox 10"/>
          <p:cNvSpPr txBox="1"/>
          <p:nvPr/>
        </p:nvSpPr>
        <p:spPr>
          <a:xfrm>
            <a:off x="5270500" y="4495800"/>
            <a:ext cx="20447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Dedicated Wi-Fi Link</a:t>
            </a:r>
          </a:p>
        </p:txBody>
      </p:sp>
      <p:sp>
        <p:nvSpPr>
          <p:cNvPr id="12" name="TextBox 11"/>
          <p:cNvSpPr txBox="1"/>
          <p:nvPr/>
        </p:nvSpPr>
        <p:spPr>
          <a:xfrm>
            <a:off x="4622800" y="49022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Specifically reserved for security cameras to handle constant high-bandwidth video streams without impacting other devices.</a:t>
            </a:r>
          </a:p>
        </p:txBody>
      </p:sp>
      <p:sp>
        <p:nvSpPr>
          <p:cNvPr id="13" name="Rounded Rectangle 12"/>
          <p:cNvSpPr/>
          <p:nvPr/>
        </p:nvSpPr>
        <p:spPr>
          <a:xfrm>
            <a:off x="89662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5ce1775a-d435-4e3b-b550-a5c942cbf3c1.png"/>
          <p:cNvPicPr>
            <a:picLocks noChangeAspect="1"/>
          </p:cNvPicPr>
          <p:nvPr/>
        </p:nvPicPr>
        <p:blipFill>
          <a:blip r:embed="rId5"/>
          <a:stretch>
            <a:fillRect/>
          </a:stretch>
        </p:blipFill>
        <p:spPr>
          <a:xfrm>
            <a:off x="9626600" y="2870200"/>
            <a:ext cx="711200" cy="711200"/>
          </a:xfrm>
          <a:prstGeom prst="rect">
            <a:avLst/>
          </a:prstGeom>
        </p:spPr>
      </p:pic>
      <p:sp>
        <p:nvSpPr>
          <p:cNvPr id="15" name="TextBox 14"/>
          <p:cNvSpPr txBox="1"/>
          <p:nvPr/>
        </p:nvSpPr>
        <p:spPr>
          <a:xfrm>
            <a:off x="8801100" y="4495800"/>
            <a:ext cx="23876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Congestion Management</a:t>
            </a:r>
          </a:p>
        </p:txBody>
      </p:sp>
      <p:sp>
        <p:nvSpPr>
          <p:cNvPr id="16" name="TextBox 15"/>
          <p:cNvSpPr txBox="1"/>
          <p:nvPr/>
        </p:nvSpPr>
        <p:spPr>
          <a:xfrm>
            <a:off x="8331200" y="49022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Prevents network bottlenecks by distributing traffic across two protocols, ensuring 24/7 reliability for all systems.</a:t>
            </a:r>
          </a:p>
        </p:txBody>
      </p:sp>
      <p:sp>
        <p:nvSpPr>
          <p:cNvPr id="17" name="Rounded Rectangle 16"/>
          <p:cNvSpPr/>
          <p:nvPr/>
        </p:nvSpPr>
        <p:spPr>
          <a:xfrm>
            <a:off x="126746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8" name="Picture 17" descr="7b3d66cf-adcb-4001-a9c2-0b2834decd25.png"/>
          <p:cNvPicPr>
            <a:picLocks noChangeAspect="1"/>
          </p:cNvPicPr>
          <p:nvPr/>
        </p:nvPicPr>
        <p:blipFill>
          <a:blip r:embed="rId6"/>
          <a:stretch>
            <a:fillRect/>
          </a:stretch>
        </p:blipFill>
        <p:spPr>
          <a:xfrm>
            <a:off x="13335000" y="2870200"/>
            <a:ext cx="711200" cy="711200"/>
          </a:xfrm>
          <a:prstGeom prst="rect">
            <a:avLst/>
          </a:prstGeom>
        </p:spPr>
      </p:pic>
      <p:sp>
        <p:nvSpPr>
          <p:cNvPr id="19" name="TextBox 18"/>
          <p:cNvSpPr txBox="1"/>
          <p:nvPr/>
        </p:nvSpPr>
        <p:spPr>
          <a:xfrm>
            <a:off x="12585700" y="4495800"/>
            <a:ext cx="22479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Integrated Performance</a:t>
            </a:r>
          </a:p>
        </p:txBody>
      </p:sp>
      <p:sp>
        <p:nvSpPr>
          <p:cNvPr id="20" name="TextBox 19"/>
          <p:cNvSpPr txBox="1"/>
          <p:nvPr/>
        </p:nvSpPr>
        <p:spPr>
          <a:xfrm>
            <a:off x="12039600" y="49022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Combines the strengths of both protocols to deliver a seamless user experience with no lag or buffering issues.</a:t>
            </a:r>
          </a:p>
        </p:txBody>
      </p:sp>
      <p:sp>
        <p:nvSpPr>
          <p:cNvPr id="21" name="Rounded Rectangle 20"/>
          <p:cNvSpPr/>
          <p:nvPr/>
        </p:nvSpPr>
        <p:spPr>
          <a:xfrm>
            <a:off x="914400" y="8712200"/>
            <a:ext cx="147320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ounded Rectangle 21"/>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52400"/>
            <a:ext cx="15062200" cy="6731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Efficient Power Supply Management</a:t>
            </a:r>
          </a:p>
        </p:txBody>
      </p:sp>
      <p:sp>
        <p:nvSpPr>
          <p:cNvPr id="3" name="TextBox 2"/>
          <p:cNvSpPr txBox="1"/>
          <p:nvPr/>
        </p:nvSpPr>
        <p:spPr>
          <a:xfrm>
            <a:off x="609600" y="977900"/>
            <a:ext cx="9677400" cy="609600"/>
          </a:xfrm>
          <a:prstGeom prst="rect">
            <a:avLst/>
          </a:prstGeom>
          <a:noFill/>
        </p:spPr>
        <p:txBody>
          <a:bodyPr wrap="square" lIns="0" rIns="0" tIns="0" bIns="0">
            <a:spAutoFit/>
          </a:bodyPr>
          <a:lstStyle/>
          <a:p>
            <a:pPr algn="l">
              <a:defRPr i="0" sz="1600" b="0">
                <a:solidFill>
                  <a:srgbClr val="6B7280"/>
                </a:solidFill>
                <a:latin typeface="Albert Sans"/>
              </a:defRPr>
            </a:pPr>
            <a:r>
              <a:rPr i="0" sz="1600" b="0">
                <a:solidFill>
                  <a:srgbClr val="6B7280"/>
                </a:solidFill>
                <a:latin typeface="Albert Sans"/>
              </a:rPr>
              <a:t>Our </a:t>
            </a:r>
            <a:r>
              <a:rPr i="0" sz="1600" b="1">
                <a:solidFill>
                  <a:srgbClr val="6B7280"/>
                </a:solidFill>
                <a:latin typeface="Albert Sans"/>
              </a:rPr>
              <a:t>hybrid model</a:t>
            </a:r>
            <a:r>
              <a:rPr i="0" sz="1600" b="0">
                <a:solidFill>
                  <a:srgbClr val="6B7280"/>
                </a:solidFill>
                <a:latin typeface="Albert Sans"/>
              </a:rPr>
              <a:t> uses 230V mains for the backbone and batteries for sensors, ensuring system stability and total installation freedom.</a:t>
            </a:r>
          </a:p>
        </p:txBody>
      </p:sp>
      <p:sp>
        <p:nvSpPr>
          <p:cNvPr id="4" name="Rounded Rectangle 3"/>
          <p:cNvSpPr/>
          <p:nvPr/>
        </p:nvSpPr>
        <p:spPr>
          <a:xfrm>
            <a:off x="0" y="6096000"/>
            <a:ext cx="16256000" cy="2032000"/>
          </a:xfrm>
          <a:prstGeom prst="roundRect">
            <a:avLst>
              <a:gd name="adj" fmla="val 25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2870200" y="1993900"/>
            <a:ext cx="3302000" cy="3568700"/>
          </a:xfrm>
          <a:prstGeom prst="roundRect">
            <a:avLst>
              <a:gd name="adj" fmla="val 8461"/>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31750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036e83b2-d6b9-485f-b350-0513f885fa66.png"/>
          <p:cNvPicPr>
            <a:picLocks noChangeAspect="1"/>
          </p:cNvPicPr>
          <p:nvPr/>
        </p:nvPicPr>
        <p:blipFill>
          <a:blip r:embed="rId3"/>
          <a:stretch>
            <a:fillRect/>
          </a:stretch>
        </p:blipFill>
        <p:spPr>
          <a:xfrm>
            <a:off x="3276600" y="2349500"/>
            <a:ext cx="304800" cy="304800"/>
          </a:xfrm>
          <a:prstGeom prst="rect">
            <a:avLst/>
          </a:prstGeom>
        </p:spPr>
      </p:pic>
      <p:sp>
        <p:nvSpPr>
          <p:cNvPr id="8" name="TextBox 7"/>
          <p:cNvSpPr txBox="1"/>
          <p:nvPr/>
        </p:nvSpPr>
        <p:spPr>
          <a:xfrm>
            <a:off x="3175000" y="2959100"/>
            <a:ext cx="2717800" cy="6858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Mains Powered Backbone</a:t>
            </a:r>
          </a:p>
        </p:txBody>
      </p:sp>
      <p:sp>
        <p:nvSpPr>
          <p:cNvPr id="9" name="TextBox 8"/>
          <p:cNvSpPr txBox="1"/>
          <p:nvPr/>
        </p:nvSpPr>
        <p:spPr>
          <a:xfrm>
            <a:off x="3175000" y="3797300"/>
            <a:ext cx="2717800" cy="15113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Core units like the </a:t>
            </a:r>
            <a:r>
              <a:rPr i="0" sz="1400" b="1">
                <a:solidFill>
                  <a:srgbClr val="6B7280"/>
                </a:solidFill>
                <a:latin typeface="Albert Sans"/>
              </a:rPr>
              <a:t>hub and cameras</a:t>
            </a:r>
            <a:r>
              <a:rPr i="0" sz="1400" b="0">
                <a:solidFill>
                  <a:srgbClr val="6B7280"/>
                </a:solidFill>
                <a:latin typeface="Albert Sans"/>
              </a:rPr>
              <a:t> use 230V mains to provide a stable, high-performance backbone for your network.</a:t>
            </a:r>
          </a:p>
        </p:txBody>
      </p:sp>
      <p:sp>
        <p:nvSpPr>
          <p:cNvPr id="10" name="Rounded Rectangle 9"/>
          <p:cNvSpPr/>
          <p:nvPr/>
        </p:nvSpPr>
        <p:spPr>
          <a:xfrm>
            <a:off x="6477000" y="1993900"/>
            <a:ext cx="3302000" cy="3568700"/>
          </a:xfrm>
          <a:prstGeom prst="roundRect">
            <a:avLst>
              <a:gd name="adj" fmla="val 8461"/>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ounded Rectangle 10"/>
          <p:cNvSpPr/>
          <p:nvPr/>
        </p:nvSpPr>
        <p:spPr>
          <a:xfrm>
            <a:off x="67818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532c4c5a-fdfc-44fd-98d5-d59e7aa05b80.png"/>
          <p:cNvPicPr>
            <a:picLocks noChangeAspect="1"/>
          </p:cNvPicPr>
          <p:nvPr/>
        </p:nvPicPr>
        <p:blipFill>
          <a:blip r:embed="rId4"/>
          <a:stretch>
            <a:fillRect/>
          </a:stretch>
        </p:blipFill>
        <p:spPr>
          <a:xfrm>
            <a:off x="6883400" y="2349500"/>
            <a:ext cx="304800" cy="304800"/>
          </a:xfrm>
          <a:prstGeom prst="rect">
            <a:avLst/>
          </a:prstGeom>
        </p:spPr>
      </p:pic>
      <p:sp>
        <p:nvSpPr>
          <p:cNvPr id="13" name="TextBox 12"/>
          <p:cNvSpPr txBox="1"/>
          <p:nvPr/>
        </p:nvSpPr>
        <p:spPr>
          <a:xfrm>
            <a:off x="6781800" y="2959100"/>
            <a:ext cx="2717800" cy="3429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Wireless Battery Sensors</a:t>
            </a:r>
          </a:p>
        </p:txBody>
      </p:sp>
      <p:sp>
        <p:nvSpPr>
          <p:cNvPr id="14" name="TextBox 13"/>
          <p:cNvSpPr txBox="1"/>
          <p:nvPr/>
        </p:nvSpPr>
        <p:spPr>
          <a:xfrm>
            <a:off x="6781800" y="34544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1">
                <a:solidFill>
                  <a:srgbClr val="6B7280"/>
                </a:solidFill>
                <a:latin typeface="Albert Sans"/>
              </a:rPr>
              <a:t>Batteries</a:t>
            </a:r>
            <a:r>
              <a:rPr i="0" sz="1400" b="0">
                <a:solidFill>
                  <a:srgbClr val="6B7280"/>
                </a:solidFill>
                <a:latin typeface="Albert Sans"/>
              </a:rPr>
              <a:t> power all sensors, offering 100% flexible placement and zero-wire installation throughout any room.</a:t>
            </a:r>
          </a:p>
        </p:txBody>
      </p:sp>
      <p:sp>
        <p:nvSpPr>
          <p:cNvPr id="15" name="Rounded Rectangle 14"/>
          <p:cNvSpPr/>
          <p:nvPr/>
        </p:nvSpPr>
        <p:spPr>
          <a:xfrm>
            <a:off x="10083800" y="1993900"/>
            <a:ext cx="3302000" cy="3568700"/>
          </a:xfrm>
          <a:prstGeom prst="roundRect">
            <a:avLst>
              <a:gd name="adj" fmla="val 8461"/>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103886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d21f18a4-e1ac-48d8-b6ae-1ee067a3cab7.png"/>
          <p:cNvPicPr>
            <a:picLocks noChangeAspect="1"/>
          </p:cNvPicPr>
          <p:nvPr/>
        </p:nvPicPr>
        <p:blipFill>
          <a:blip r:embed="rId5"/>
          <a:stretch>
            <a:fillRect/>
          </a:stretch>
        </p:blipFill>
        <p:spPr>
          <a:xfrm>
            <a:off x="10490200" y="2349500"/>
            <a:ext cx="304800" cy="304800"/>
          </a:xfrm>
          <a:prstGeom prst="rect">
            <a:avLst/>
          </a:prstGeom>
        </p:spPr>
      </p:pic>
      <p:sp>
        <p:nvSpPr>
          <p:cNvPr id="18" name="TextBox 17"/>
          <p:cNvSpPr txBox="1"/>
          <p:nvPr/>
        </p:nvSpPr>
        <p:spPr>
          <a:xfrm>
            <a:off x="10388600" y="2959100"/>
            <a:ext cx="2717800" cy="3429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Scalable Network Design</a:t>
            </a:r>
          </a:p>
        </p:txBody>
      </p:sp>
      <p:sp>
        <p:nvSpPr>
          <p:cNvPr id="19" name="TextBox 18"/>
          <p:cNvSpPr txBox="1"/>
          <p:nvPr/>
        </p:nvSpPr>
        <p:spPr>
          <a:xfrm>
            <a:off x="10388600" y="34544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Easily scale your setup with </a:t>
            </a:r>
            <a:r>
              <a:rPr i="0" sz="1400" b="1">
                <a:solidFill>
                  <a:srgbClr val="6B7280"/>
                </a:solidFill>
                <a:latin typeface="Albert Sans"/>
              </a:rPr>
              <a:t>15+ sensors</a:t>
            </a:r>
            <a:r>
              <a:rPr i="0" sz="1400" b="0">
                <a:solidFill>
                  <a:srgbClr val="6B7280"/>
                </a:solidFill>
                <a:latin typeface="Albert Sans"/>
              </a:rPr>
              <a:t>. This hybrid model delivers professional security without complex wiring.</a:t>
            </a:r>
          </a:p>
        </p:txBody>
      </p:sp>
      <p:sp>
        <p:nvSpPr>
          <p:cNvPr id="20" name="Rounded Rectangle 19"/>
          <p:cNvSpPr/>
          <p:nvPr/>
        </p:nvSpPr>
        <p:spPr>
          <a:xfrm>
            <a:off x="914400" y="8712200"/>
            <a:ext cx="147320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ounded Rectangle 20"/>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304800"/>
            <a:ext cx="5435600" cy="22352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Basement andGarage Security</a:t>
            </a:r>
          </a:p>
        </p:txBody>
      </p:sp>
      <p:sp>
        <p:nvSpPr>
          <p:cNvPr id="3" name="TextBox 2"/>
          <p:cNvSpPr txBox="1"/>
          <p:nvPr/>
        </p:nvSpPr>
        <p:spPr>
          <a:xfrm>
            <a:off x="609600" y="2946400"/>
            <a:ext cx="3835400" cy="18288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Protect your assets with advanced smart sensors. Monitor water leaks in the basement and track garage entry with remote cameras for total peace of mind and constant home safety.</a:t>
            </a:r>
          </a:p>
        </p:txBody>
      </p:sp>
      <p:pic>
        <p:nvPicPr>
          <p:cNvPr id="4" name="Picture 3" descr="e1030d0c-d682-4881-a352-c87155075315.png"/>
          <p:cNvPicPr>
            <a:picLocks noChangeAspect="1"/>
          </p:cNvPicPr>
          <p:nvPr/>
        </p:nvPicPr>
        <p:blipFill>
          <a:blip r:embed="rId3"/>
          <a:stretch>
            <a:fillRect/>
          </a:stretch>
        </p:blipFill>
        <p:spPr>
          <a:xfrm>
            <a:off x="6426200" y="304800"/>
            <a:ext cx="2870200" cy="2286000"/>
          </a:xfrm>
          <a:prstGeom prst="rect">
            <a:avLst/>
          </a:prstGeom>
        </p:spPr>
      </p:pic>
      <p:sp>
        <p:nvSpPr>
          <p:cNvPr id="5" name="Rounded Rectangle 4"/>
          <p:cNvSpPr/>
          <p:nvPr/>
        </p:nvSpPr>
        <p:spPr>
          <a:xfrm>
            <a:off x="6426200" y="2578100"/>
            <a:ext cx="2870200" cy="3086100"/>
          </a:xfrm>
          <a:prstGeom prst="roundRect">
            <a:avLst>
              <a:gd name="adj" fmla="val 12389"/>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731000" y="2882900"/>
            <a:ext cx="2286000" cy="762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Water Leak Sensors</a:t>
            </a:r>
          </a:p>
        </p:txBody>
      </p:sp>
      <p:sp>
        <p:nvSpPr>
          <p:cNvPr id="7" name="TextBox 6"/>
          <p:cNvSpPr txBox="1"/>
          <p:nvPr/>
        </p:nvSpPr>
        <p:spPr>
          <a:xfrm>
            <a:off x="6731000" y="3797300"/>
            <a:ext cx="2286000" cy="15113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Detect moisture early in the basement to prevent flooding and protect your home foundation from water damage.</a:t>
            </a:r>
          </a:p>
        </p:txBody>
      </p:sp>
      <p:pic>
        <p:nvPicPr>
          <p:cNvPr id="8" name="Picture 7" descr="e1030d0c-d682-4881-a352-c87155075315.png"/>
          <p:cNvPicPr>
            <a:picLocks noChangeAspect="1"/>
          </p:cNvPicPr>
          <p:nvPr/>
        </p:nvPicPr>
        <p:blipFill>
          <a:blip r:embed="rId3"/>
          <a:stretch>
            <a:fillRect/>
          </a:stretch>
        </p:blipFill>
        <p:spPr>
          <a:xfrm>
            <a:off x="9804400" y="304800"/>
            <a:ext cx="2870200" cy="2286000"/>
          </a:xfrm>
          <a:prstGeom prst="rect">
            <a:avLst/>
          </a:prstGeom>
        </p:spPr>
      </p:pic>
      <p:sp>
        <p:nvSpPr>
          <p:cNvPr id="9" name="Rounded Rectangle 8"/>
          <p:cNvSpPr/>
          <p:nvPr/>
        </p:nvSpPr>
        <p:spPr>
          <a:xfrm>
            <a:off x="9804400" y="2578100"/>
            <a:ext cx="2870200" cy="3086100"/>
          </a:xfrm>
          <a:prstGeom prst="roundRect">
            <a:avLst>
              <a:gd name="adj" fmla="val 12389"/>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0109200" y="2882900"/>
            <a:ext cx="2286000" cy="762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Smart Energy Plugs</a:t>
            </a:r>
          </a:p>
        </p:txBody>
      </p:sp>
      <p:sp>
        <p:nvSpPr>
          <p:cNvPr id="11" name="TextBox 10"/>
          <p:cNvSpPr txBox="1"/>
          <p:nvPr/>
        </p:nvSpPr>
        <p:spPr>
          <a:xfrm>
            <a:off x="10109200" y="3797300"/>
            <a:ext cx="2286000" cy="15113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Monitor appliance energy use and manage power remotely to ensure safety and improve basement energy efficiency.</a:t>
            </a:r>
          </a:p>
        </p:txBody>
      </p:sp>
      <p:pic>
        <p:nvPicPr>
          <p:cNvPr id="12" name="Picture 11" descr="e1030d0c-d682-4881-a352-c87155075315.png"/>
          <p:cNvPicPr>
            <a:picLocks noChangeAspect="1"/>
          </p:cNvPicPr>
          <p:nvPr/>
        </p:nvPicPr>
        <p:blipFill>
          <a:blip r:embed="rId3"/>
          <a:stretch>
            <a:fillRect/>
          </a:stretch>
        </p:blipFill>
        <p:spPr>
          <a:xfrm>
            <a:off x="13182600" y="304800"/>
            <a:ext cx="2870200" cy="2286000"/>
          </a:xfrm>
          <a:prstGeom prst="rect">
            <a:avLst/>
          </a:prstGeom>
        </p:spPr>
      </p:pic>
      <p:sp>
        <p:nvSpPr>
          <p:cNvPr id="13" name="Rounded Rectangle 12"/>
          <p:cNvSpPr/>
          <p:nvPr/>
        </p:nvSpPr>
        <p:spPr>
          <a:xfrm>
            <a:off x="13182600" y="2578100"/>
            <a:ext cx="2870200" cy="3086100"/>
          </a:xfrm>
          <a:prstGeom prst="roundRect">
            <a:avLst>
              <a:gd name="adj" fmla="val 12389"/>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13487400" y="2882900"/>
            <a:ext cx="2286000" cy="762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Garage Door Sensors</a:t>
            </a:r>
          </a:p>
        </p:txBody>
      </p:sp>
      <p:sp>
        <p:nvSpPr>
          <p:cNvPr id="15" name="TextBox 14"/>
          <p:cNvSpPr txBox="1"/>
          <p:nvPr/>
        </p:nvSpPr>
        <p:spPr>
          <a:xfrm>
            <a:off x="13487400" y="3797300"/>
            <a:ext cx="2286000" cy="15113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Receive instant alerts for unauthorized access or if the garage door is left open, ensuring total entry security.</a:t>
            </a:r>
          </a:p>
        </p:txBody>
      </p:sp>
      <p:sp>
        <p:nvSpPr>
          <p:cNvPr id="16" name="Rounded Rectangle 15"/>
          <p:cNvSpPr/>
          <p:nvPr/>
        </p:nvSpPr>
        <p:spPr>
          <a:xfrm>
            <a:off x="914400" y="8712200"/>
            <a:ext cx="147320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ounded Rectangle 16"/>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203200"/>
            <a:ext cx="72390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Ground Floor: Social &amp; Safety Hub</a:t>
            </a:r>
          </a:p>
        </p:txBody>
      </p:sp>
      <p:sp>
        <p:nvSpPr>
          <p:cNvPr id="3" name="TextBox 2"/>
          <p:cNvSpPr txBox="1"/>
          <p:nvPr/>
        </p:nvSpPr>
        <p:spPr>
          <a:xfrm>
            <a:off x="609600" y="2209800"/>
            <a:ext cx="66294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The ground floor acts as the central intelligence hub, balancing advanced safety protocols with immersive social features to enhance daily living.</a:t>
            </a:r>
          </a:p>
        </p:txBody>
      </p:sp>
      <p:sp>
        <p:nvSpPr>
          <p:cNvPr id="4" name="TextBox 3"/>
          <p:cNvSpPr txBox="1"/>
          <p:nvPr/>
        </p:nvSpPr>
        <p:spPr>
          <a:xfrm>
            <a:off x="8331200" y="2032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Centralized Hub Control</a:t>
            </a:r>
          </a:p>
        </p:txBody>
      </p:sp>
      <p:sp>
        <p:nvSpPr>
          <p:cNvPr id="5" name="TextBox 4"/>
          <p:cNvSpPr txBox="1"/>
          <p:nvPr/>
        </p:nvSpPr>
        <p:spPr>
          <a:xfrm>
            <a:off x="8331200" y="8128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Strategic placement of the </a:t>
            </a:r>
            <a:r>
              <a:rPr i="0" sz="1600" b="1">
                <a:solidFill>
                  <a:srgbClr val="6B7280"/>
                </a:solidFill>
                <a:latin typeface="Albert Sans"/>
              </a:rPr>
              <a:t>Home Assistant Hub</a:t>
            </a:r>
            <a:r>
              <a:rPr i="0" sz="1600" b="0">
                <a:solidFill>
                  <a:srgbClr val="6B7280"/>
                </a:solidFill>
                <a:latin typeface="Albert Sans"/>
              </a:rPr>
              <a:t> ensures optimal Zigbee connectivity across the entire floor, acting as the primary brain for all integrated smart devices.</a:t>
            </a:r>
          </a:p>
        </p:txBody>
      </p:sp>
      <p:sp>
        <p:nvSpPr>
          <p:cNvPr id="6" name="TextBox 5"/>
          <p:cNvSpPr txBox="1"/>
          <p:nvPr/>
        </p:nvSpPr>
        <p:spPr>
          <a:xfrm>
            <a:off x="8331200" y="2209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Advanced Safety Integration</a:t>
            </a:r>
          </a:p>
        </p:txBody>
      </p:sp>
      <p:sp>
        <p:nvSpPr>
          <p:cNvPr id="7" name="TextBox 6"/>
          <p:cNvSpPr txBox="1"/>
          <p:nvPr/>
        </p:nvSpPr>
        <p:spPr>
          <a:xfrm>
            <a:off x="8331200" y="28194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Integrated smoke and heat detectors in the kitchen provide proactive monitoring, while automated routines ensure a swift response to potential hazards, keeping the household secure.</a:t>
            </a:r>
          </a:p>
        </p:txBody>
      </p:sp>
      <p:sp>
        <p:nvSpPr>
          <p:cNvPr id="8" name="TextBox 7"/>
          <p:cNvSpPr txBox="1"/>
          <p:nvPr/>
        </p:nvSpPr>
        <p:spPr>
          <a:xfrm>
            <a:off x="8331200" y="42291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Immersive Living Experience</a:t>
            </a:r>
          </a:p>
        </p:txBody>
      </p:sp>
      <p:sp>
        <p:nvSpPr>
          <p:cNvPr id="9" name="TextBox 8"/>
          <p:cNvSpPr txBox="1"/>
          <p:nvPr/>
        </p:nvSpPr>
        <p:spPr>
          <a:xfrm>
            <a:off x="8331200" y="48387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Smart lighting scenes like </a:t>
            </a:r>
            <a:r>
              <a:rPr i="0" sz="1600" b="1">
                <a:solidFill>
                  <a:srgbClr val="6B7280"/>
                </a:solidFill>
                <a:latin typeface="Albert Sans"/>
              </a:rPr>
              <a:t>Movie Mode</a:t>
            </a:r>
            <a:r>
              <a:rPr i="0" sz="1600" b="0">
                <a:solidFill>
                  <a:srgbClr val="6B7280"/>
                </a:solidFill>
                <a:latin typeface="Albert Sans"/>
              </a:rPr>
              <a:t> transform the 15+ square meter living area instantly, creating the perfect atmosphere for social gatherings or quiet entertainment.</a:t>
            </a:r>
          </a:p>
        </p:txBody>
      </p:sp>
      <p:sp>
        <p:nvSpPr>
          <p:cNvPr id="10" name="Rounded Rectangle 9"/>
          <p:cNvSpPr/>
          <p:nvPr/>
        </p:nvSpPr>
        <p:spPr>
          <a:xfrm>
            <a:off x="914400" y="8712200"/>
            <a:ext cx="147320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ounded Rectangle 10"/>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128000" y="0"/>
            <a:ext cx="12700" cy="9144000"/>
          </a:xfrm>
          <a:prstGeom prst="roundRect">
            <a:avLst>
              <a:gd name="adj" fmla="val 400000"/>
            </a:avLst>
          </a:prstGeom>
          <a:solidFill>
            <a:srgbClr val="000000">
              <a:alpha val="1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09600" y="152400"/>
            <a:ext cx="5359400" cy="20066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First Floor: Health and Wellness Design</a:t>
            </a:r>
          </a:p>
        </p:txBody>
      </p:sp>
      <p:sp>
        <p:nvSpPr>
          <p:cNvPr id="4" name="Rounded Rectangle 3"/>
          <p:cNvSpPr/>
          <p:nvPr/>
        </p:nvSpPr>
        <p:spPr>
          <a:xfrm>
            <a:off x="609600" y="2628900"/>
            <a:ext cx="254000" cy="2540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016000" y="2565400"/>
            <a:ext cx="34163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Smart Environmental Control</a:t>
            </a:r>
          </a:p>
        </p:txBody>
      </p:sp>
      <p:sp>
        <p:nvSpPr>
          <p:cNvPr id="6" name="TextBox 5"/>
          <p:cNvSpPr txBox="1"/>
          <p:nvPr/>
        </p:nvSpPr>
        <p:spPr>
          <a:xfrm>
            <a:off x="609600" y="3225800"/>
            <a:ext cx="4597400" cy="14605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The private floor prioritizes health through automated monitoring. Integrated sensors manage humidity while smart climate units optimize energy use in all bedrooms.</a:t>
            </a:r>
          </a:p>
        </p:txBody>
      </p:sp>
      <p:sp>
        <p:nvSpPr>
          <p:cNvPr id="7" name="Rounded Rectangle 6"/>
          <p:cNvSpPr/>
          <p:nvPr/>
        </p:nvSpPr>
        <p:spPr>
          <a:xfrm>
            <a:off x="14478000" y="457200"/>
            <a:ext cx="2794000" cy="2794000"/>
          </a:xfrm>
          <a:prstGeom prst="roundRect">
            <a:avLst>
              <a:gd name="adj" fmla="val 50000"/>
            </a:avLst>
          </a:prstGeom>
          <a:noFill/>
          <a:ln w="12700">
            <a:solidFill>
              <a:srgbClr val="000000">
                <a:alpha val="20000"/>
              </a:srgbClr>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7327900" y="152400"/>
            <a:ext cx="8724900" cy="1701800"/>
          </a:xfrm>
          <a:prstGeom prst="roundRect">
            <a:avLst>
              <a:gd name="adj" fmla="val 1343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7632700" y="4064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a:t>
            </a:r>
          </a:p>
        </p:txBody>
      </p:sp>
      <p:sp>
        <p:nvSpPr>
          <p:cNvPr id="10" name="TextBox 9"/>
          <p:cNvSpPr txBox="1"/>
          <p:nvPr/>
        </p:nvSpPr>
        <p:spPr>
          <a:xfrm>
            <a:off x="10718800" y="406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Energy Waste</a:t>
            </a:r>
          </a:p>
        </p:txBody>
      </p:sp>
      <p:sp>
        <p:nvSpPr>
          <p:cNvPr id="11" name="TextBox 10"/>
          <p:cNvSpPr txBox="1"/>
          <p:nvPr/>
        </p:nvSpPr>
        <p:spPr>
          <a:xfrm>
            <a:off x="10718800" y="660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Reduction</a:t>
            </a:r>
          </a:p>
        </p:txBody>
      </p:sp>
      <p:sp>
        <p:nvSpPr>
          <p:cNvPr id="12" name="TextBox 11"/>
          <p:cNvSpPr txBox="1"/>
          <p:nvPr/>
        </p:nvSpPr>
        <p:spPr>
          <a:xfrm>
            <a:off x="10718800" y="1117600"/>
            <a:ext cx="5054600" cy="4826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Smart climate units reduce heating waste by ensuring heat is only directed to occupied bedrooms.</a:t>
            </a:r>
          </a:p>
        </p:txBody>
      </p:sp>
      <p:sp>
        <p:nvSpPr>
          <p:cNvPr id="13" name="Rounded Rectangle 12"/>
          <p:cNvSpPr/>
          <p:nvPr/>
        </p:nvSpPr>
        <p:spPr>
          <a:xfrm>
            <a:off x="7327900" y="2159000"/>
            <a:ext cx="8724900" cy="1701800"/>
          </a:xfrm>
          <a:prstGeom prst="roundRect">
            <a:avLst>
              <a:gd name="adj" fmla="val 1343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7632700" y="24130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Auto</a:t>
            </a:r>
          </a:p>
        </p:txBody>
      </p:sp>
      <p:sp>
        <p:nvSpPr>
          <p:cNvPr id="15" name="TextBox 14"/>
          <p:cNvSpPr txBox="1"/>
          <p:nvPr/>
        </p:nvSpPr>
        <p:spPr>
          <a:xfrm>
            <a:off x="10718800" y="24130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Humidity</a:t>
            </a:r>
          </a:p>
        </p:txBody>
      </p:sp>
      <p:sp>
        <p:nvSpPr>
          <p:cNvPr id="16" name="TextBox 15"/>
          <p:cNvSpPr txBox="1"/>
          <p:nvPr/>
        </p:nvSpPr>
        <p:spPr>
          <a:xfrm>
            <a:off x="10718800" y="26670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Control</a:t>
            </a:r>
          </a:p>
        </p:txBody>
      </p:sp>
      <p:sp>
        <p:nvSpPr>
          <p:cNvPr id="17" name="TextBox 16"/>
          <p:cNvSpPr txBox="1"/>
          <p:nvPr/>
        </p:nvSpPr>
        <p:spPr>
          <a:xfrm>
            <a:off x="10718800" y="3124200"/>
            <a:ext cx="5054600" cy="4826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Sensors prevent mold growth by triggering ventilation whenever bathroom humidity levels rise.</a:t>
            </a:r>
          </a:p>
        </p:txBody>
      </p:sp>
      <p:sp>
        <p:nvSpPr>
          <p:cNvPr id="18" name="Rounded Rectangle 17"/>
          <p:cNvSpPr/>
          <p:nvPr/>
        </p:nvSpPr>
        <p:spPr>
          <a:xfrm>
            <a:off x="914400" y="8712200"/>
            <a:ext cx="147320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773400" y="7874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Rounded Rectangle 2"/>
          <p:cNvSpPr/>
          <p:nvPr/>
        </p:nvSpPr>
        <p:spPr>
          <a:xfrm>
            <a:off x="15773400" y="10922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ounded Rectangle 3"/>
          <p:cNvSpPr/>
          <p:nvPr/>
        </p:nvSpPr>
        <p:spPr>
          <a:xfrm>
            <a:off x="15773400" y="13970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2552700" y="152400"/>
            <a:ext cx="11176000" cy="673100"/>
          </a:xfrm>
          <a:prstGeom prst="rect">
            <a:avLst/>
          </a:prstGeom>
          <a:noFill/>
        </p:spPr>
        <p:txBody>
          <a:bodyPr wrap="square" lIns="0" rIns="0" tIns="0" bIns="0">
            <a:spAutoFit/>
          </a:bodyPr>
          <a:lstStyle/>
          <a:p>
            <a:pPr algn="ctr">
              <a:lnSpc>
                <a:spcPct val="80000"/>
              </a:lnSpc>
              <a:defRPr i="0" sz="4800" b="1">
                <a:solidFill>
                  <a:srgbClr val="111827"/>
                </a:solidFill>
                <a:latin typeface="Albert Sans"/>
              </a:defRPr>
            </a:pPr>
            <a:r>
              <a:rPr i="0" sz="4800" b="1">
                <a:solidFill>
                  <a:srgbClr val="111827"/>
                </a:solidFill>
                <a:latin typeface="Albert Sans"/>
              </a:rPr>
              <a:t>Mastering Advanced Home Automation</a:t>
            </a:r>
          </a:p>
        </p:txBody>
      </p:sp>
      <p:sp>
        <p:nvSpPr>
          <p:cNvPr id="6" name="Rounded Rectangle 5"/>
          <p:cNvSpPr/>
          <p:nvPr/>
        </p:nvSpPr>
        <p:spPr>
          <a:xfrm>
            <a:off x="3556000" y="1079500"/>
            <a:ext cx="9144000" cy="914400"/>
          </a:xfrm>
          <a:prstGeom prst="roundRect">
            <a:avLst>
              <a:gd name="adj" fmla="val 8333"/>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3860800" y="1231900"/>
            <a:ext cx="8559800" cy="609600"/>
          </a:xfrm>
          <a:prstGeom prst="rect">
            <a:avLst/>
          </a:prstGeom>
          <a:noFill/>
        </p:spPr>
        <p:txBody>
          <a:bodyPr wrap="square" lIns="0" rIns="0" tIns="0" bIns="0">
            <a:spAutoFit/>
          </a:bodyPr>
          <a:lstStyle/>
          <a:p>
            <a:pPr algn="ctr">
              <a:defRPr i="0" sz="1600" b="0">
                <a:solidFill>
                  <a:srgbClr val="6B7280"/>
                </a:solidFill>
                <a:latin typeface="Albert Sans"/>
              </a:defRPr>
            </a:pPr>
            <a:r>
              <a:rPr i="0" sz="1600" b="0">
                <a:solidFill>
                  <a:srgbClr val="6B7280"/>
                </a:solidFill>
                <a:latin typeface="Albert Sans"/>
              </a:rPr>
              <a:t>Implement logic-driven actions to improve security, comfort, and household efficiency with real-time notifications.</a:t>
            </a:r>
          </a:p>
        </p:txBody>
      </p:sp>
      <p:sp>
        <p:nvSpPr>
          <p:cNvPr id="8" name="Rounded Rectangle 7"/>
          <p:cNvSpPr/>
          <p:nvPr/>
        </p:nvSpPr>
        <p:spPr>
          <a:xfrm>
            <a:off x="609600" y="4546600"/>
            <a:ext cx="15036800" cy="50800"/>
          </a:xfrm>
          <a:prstGeom prst="roundRect">
            <a:avLst>
              <a:gd name="adj" fmla="val 1000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a:off x="3746500" y="2501900"/>
            <a:ext cx="1130300" cy="508000"/>
          </a:xfrm>
          <a:prstGeom prst="roundRect">
            <a:avLst>
              <a:gd name="adj" fmla="val 15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4000500" y="2603500"/>
            <a:ext cx="647700" cy="304800"/>
          </a:xfrm>
          <a:prstGeom prst="rect">
            <a:avLst/>
          </a:prstGeom>
          <a:noFill/>
        </p:spPr>
        <p:txBody>
          <a:bodyPr wrap="square" lIns="0" rIns="0" tIns="0" bIns="0">
            <a:spAutoFit/>
          </a:bodyPr>
          <a:lstStyle/>
          <a:p>
            <a:pPr algn="l">
              <a:defRPr i="0" sz="1600" b="1">
                <a:solidFill>
                  <a:srgbClr val="FFFFFF"/>
                </a:solidFill>
                <a:latin typeface="Albert Sans"/>
              </a:defRPr>
            </a:pPr>
            <a:r>
              <a:rPr i="0" sz="1600" b="1">
                <a:solidFill>
                  <a:srgbClr val="FFFFFF"/>
                </a:solidFill>
                <a:latin typeface="Albert Sans"/>
              </a:rPr>
              <a:t>LOGIC</a:t>
            </a:r>
          </a:p>
        </p:txBody>
      </p:sp>
      <p:sp>
        <p:nvSpPr>
          <p:cNvPr id="11" name="Rounded Rectangle 10"/>
          <p:cNvSpPr/>
          <p:nvPr/>
        </p:nvSpPr>
        <p:spPr>
          <a:xfrm>
            <a:off x="4191000" y="3111500"/>
            <a:ext cx="254000" cy="254000"/>
          </a:xfrm>
          <a:prstGeom prst="roundRect">
            <a:avLst>
              <a:gd name="adj" fmla="val 50000"/>
            </a:avLst>
          </a:prstGeom>
          <a:solidFill>
            <a:srgbClr val="FFFFFF"/>
          </a:solidFill>
          <a:ln w="508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ounded Rectangle 11"/>
          <p:cNvSpPr/>
          <p:nvPr/>
        </p:nvSpPr>
        <p:spPr>
          <a:xfrm>
            <a:off x="2667000" y="3568700"/>
            <a:ext cx="3302000" cy="3543300"/>
          </a:xfrm>
          <a:prstGeom prst="roundRect">
            <a:avLst>
              <a:gd name="adj" fmla="val 6153"/>
            </a:avLst>
          </a:prstGeom>
          <a:solidFill>
            <a:srgbClr val="FFFF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ounded Rectangle 12"/>
          <p:cNvSpPr/>
          <p:nvPr/>
        </p:nvSpPr>
        <p:spPr>
          <a:xfrm>
            <a:off x="4013200" y="3873500"/>
            <a:ext cx="609600" cy="609600"/>
          </a:xfrm>
          <a:prstGeom prst="roundRect">
            <a:avLst>
              <a:gd name="adj" fmla="val 500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2971800" y="4686300"/>
            <a:ext cx="2717800" cy="685800"/>
          </a:xfrm>
          <a:prstGeom prst="rect">
            <a:avLst/>
          </a:prstGeom>
          <a:noFill/>
        </p:spPr>
        <p:txBody>
          <a:bodyPr wrap="square" lIns="0" rIns="0" tIns="0" bIns="0">
            <a:spAutoFit/>
          </a:bodyPr>
          <a:lstStyle/>
          <a:p>
            <a:pPr algn="ctr">
              <a:defRPr i="0" sz="1800" b="1">
                <a:solidFill>
                  <a:srgbClr val="111827"/>
                </a:solidFill>
                <a:latin typeface="Albert Sans"/>
              </a:defRPr>
            </a:pPr>
            <a:r>
              <a:rPr i="0" sz="1800" b="1">
                <a:solidFill>
                  <a:srgbClr val="111827"/>
                </a:solidFill>
                <a:latin typeface="Albert Sans"/>
              </a:rPr>
              <a:t>Smart Laundry Notifications</a:t>
            </a:r>
          </a:p>
        </p:txBody>
      </p:sp>
      <p:sp>
        <p:nvSpPr>
          <p:cNvPr id="15" name="TextBox 14"/>
          <p:cNvSpPr txBox="1"/>
          <p:nvPr/>
        </p:nvSpPr>
        <p:spPr>
          <a:xfrm>
            <a:off x="2971800" y="5524500"/>
            <a:ext cx="2717800" cy="1333500"/>
          </a:xfrm>
          <a:prstGeom prst="rect">
            <a:avLst/>
          </a:prstGeom>
          <a:noFill/>
        </p:spPr>
        <p:txBody>
          <a:bodyPr wrap="square" lIns="0" rIns="0" tIns="0" bIns="0">
            <a:spAutoFit/>
          </a:bodyPr>
          <a:lstStyle/>
          <a:p>
            <a:pPr algn="ctr">
              <a:lnSpc>
                <a:spcPct val="120000"/>
              </a:lnSpc>
              <a:defRPr i="0" sz="1400" b="0">
                <a:solidFill>
                  <a:srgbClr val="6B7280"/>
                </a:solidFill>
                <a:latin typeface="Albert Sans"/>
              </a:defRPr>
            </a:pPr>
            <a:r>
              <a:rPr i="0" sz="1400" b="0">
                <a:solidFill>
                  <a:srgbClr val="6B7280"/>
                </a:solidFill>
                <a:latin typeface="Albert Sans"/>
              </a:rPr>
              <a:t>Get notified when cycles end. Smart plugs monitor for </a:t>
            </a:r>
            <a:r>
              <a:rPr i="0" sz="1400" b="1">
                <a:solidFill>
                  <a:srgbClr val="6B7280"/>
                </a:solidFill>
                <a:latin typeface="Albert Sans"/>
              </a:rPr>
              <a:t>zero wattage</a:t>
            </a:r>
            <a:r>
              <a:rPr i="0" sz="1400" b="0">
                <a:solidFill>
                  <a:srgbClr val="6B7280"/>
                </a:solidFill>
                <a:latin typeface="Albert Sans"/>
              </a:rPr>
              <a:t> to trigger alerts, ensuring laundry is handled immediately.</a:t>
            </a:r>
          </a:p>
        </p:txBody>
      </p:sp>
      <p:sp>
        <p:nvSpPr>
          <p:cNvPr id="16" name="Rounded Rectangle 15"/>
          <p:cNvSpPr/>
          <p:nvPr/>
        </p:nvSpPr>
        <p:spPr>
          <a:xfrm>
            <a:off x="7480300" y="2501900"/>
            <a:ext cx="1308100" cy="508000"/>
          </a:xfrm>
          <a:prstGeom prst="roundRect">
            <a:avLst>
              <a:gd name="adj" fmla="val 15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7734300" y="2603500"/>
            <a:ext cx="825500" cy="304800"/>
          </a:xfrm>
          <a:prstGeom prst="rect">
            <a:avLst/>
          </a:prstGeom>
          <a:noFill/>
        </p:spPr>
        <p:txBody>
          <a:bodyPr wrap="square" lIns="0" rIns="0" tIns="0" bIns="0">
            <a:spAutoFit/>
          </a:bodyPr>
          <a:lstStyle/>
          <a:p>
            <a:pPr algn="l">
              <a:defRPr i="0" sz="1600" b="1">
                <a:solidFill>
                  <a:srgbClr val="FFFFFF"/>
                </a:solidFill>
                <a:latin typeface="Albert Sans"/>
              </a:defRPr>
            </a:pPr>
            <a:r>
              <a:rPr i="0" sz="1600" b="1">
                <a:solidFill>
                  <a:srgbClr val="FFFFFF"/>
                </a:solidFill>
                <a:latin typeface="Albert Sans"/>
              </a:rPr>
              <a:t>SECURE</a:t>
            </a:r>
          </a:p>
        </p:txBody>
      </p:sp>
      <p:sp>
        <p:nvSpPr>
          <p:cNvPr id="18" name="Rounded Rectangle 17"/>
          <p:cNvSpPr/>
          <p:nvPr/>
        </p:nvSpPr>
        <p:spPr>
          <a:xfrm>
            <a:off x="8001000" y="3111500"/>
            <a:ext cx="254000" cy="254000"/>
          </a:xfrm>
          <a:prstGeom prst="roundRect">
            <a:avLst>
              <a:gd name="adj" fmla="val 50000"/>
            </a:avLst>
          </a:prstGeom>
          <a:solidFill>
            <a:srgbClr val="FFFFFF"/>
          </a:solidFill>
          <a:ln w="508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6477000" y="3568700"/>
            <a:ext cx="3302000" cy="3543300"/>
          </a:xfrm>
          <a:prstGeom prst="roundRect">
            <a:avLst>
              <a:gd name="adj" fmla="val 6153"/>
            </a:avLst>
          </a:prstGeom>
          <a:solidFill>
            <a:srgbClr val="FFFF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ounded Rectangle 19"/>
          <p:cNvSpPr/>
          <p:nvPr/>
        </p:nvSpPr>
        <p:spPr>
          <a:xfrm>
            <a:off x="7823200" y="3873500"/>
            <a:ext cx="609600" cy="609600"/>
          </a:xfrm>
          <a:prstGeom prst="roundRect">
            <a:avLst>
              <a:gd name="adj" fmla="val 500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781800" y="4686300"/>
            <a:ext cx="2717800" cy="685800"/>
          </a:xfrm>
          <a:prstGeom prst="rect">
            <a:avLst/>
          </a:prstGeom>
          <a:noFill/>
        </p:spPr>
        <p:txBody>
          <a:bodyPr wrap="square" lIns="0" rIns="0" tIns="0" bIns="0">
            <a:spAutoFit/>
          </a:bodyPr>
          <a:lstStyle/>
          <a:p>
            <a:pPr algn="ctr">
              <a:defRPr i="0" sz="1800" b="1">
                <a:solidFill>
                  <a:srgbClr val="111827"/>
                </a:solidFill>
                <a:latin typeface="Albert Sans"/>
              </a:defRPr>
            </a:pPr>
            <a:r>
              <a:rPr i="0" sz="1800" b="1">
                <a:solidFill>
                  <a:srgbClr val="111827"/>
                </a:solidFill>
                <a:latin typeface="Albert Sans"/>
              </a:rPr>
              <a:t>Active Perimeter Security</a:t>
            </a:r>
          </a:p>
        </p:txBody>
      </p:sp>
      <p:sp>
        <p:nvSpPr>
          <p:cNvPr id="22" name="TextBox 21"/>
          <p:cNvSpPr txBox="1"/>
          <p:nvPr/>
        </p:nvSpPr>
        <p:spPr>
          <a:xfrm>
            <a:off x="6781800" y="5524500"/>
            <a:ext cx="2717800" cy="1333500"/>
          </a:xfrm>
          <a:prstGeom prst="rect">
            <a:avLst/>
          </a:prstGeom>
          <a:noFill/>
        </p:spPr>
        <p:txBody>
          <a:bodyPr wrap="square" lIns="0" rIns="0" tIns="0" bIns="0">
            <a:spAutoFit/>
          </a:bodyPr>
          <a:lstStyle/>
          <a:p>
            <a:pPr algn="ctr">
              <a:lnSpc>
                <a:spcPct val="120000"/>
              </a:lnSpc>
              <a:defRPr i="0" sz="1400" b="0">
                <a:solidFill>
                  <a:srgbClr val="6B7280"/>
                </a:solidFill>
                <a:latin typeface="Albert Sans"/>
              </a:defRPr>
            </a:pPr>
            <a:r>
              <a:rPr i="0" sz="1400" b="0">
                <a:solidFill>
                  <a:srgbClr val="6B7280"/>
                </a:solidFill>
                <a:latin typeface="Albert Sans"/>
              </a:rPr>
              <a:t>Secure your home by flashing </a:t>
            </a:r>
            <a:r>
              <a:rPr i="0" sz="1400" b="1">
                <a:solidFill>
                  <a:srgbClr val="6B7280"/>
                </a:solidFill>
                <a:latin typeface="Albert Sans"/>
              </a:rPr>
              <a:t>red lights</a:t>
            </a:r>
            <a:r>
              <a:rPr i="0" sz="1400" b="0">
                <a:solidFill>
                  <a:srgbClr val="6B7280"/>
                </a:solidFill>
                <a:latin typeface="Albert Sans"/>
              </a:rPr>
              <a:t> and sending alerts if the garage opens while the security state is set to 'Away' mode.</a:t>
            </a:r>
          </a:p>
        </p:txBody>
      </p:sp>
      <p:sp>
        <p:nvSpPr>
          <p:cNvPr id="23" name="Rounded Rectangle 22"/>
          <p:cNvSpPr/>
          <p:nvPr/>
        </p:nvSpPr>
        <p:spPr>
          <a:xfrm>
            <a:off x="11404600" y="2501900"/>
            <a:ext cx="1079500" cy="508000"/>
          </a:xfrm>
          <a:prstGeom prst="roundRect">
            <a:avLst>
              <a:gd name="adj" fmla="val 15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11658600" y="2603500"/>
            <a:ext cx="596900" cy="304800"/>
          </a:xfrm>
          <a:prstGeom prst="rect">
            <a:avLst/>
          </a:prstGeom>
          <a:noFill/>
        </p:spPr>
        <p:txBody>
          <a:bodyPr wrap="square" lIns="0" rIns="0" tIns="0" bIns="0">
            <a:spAutoFit/>
          </a:bodyPr>
          <a:lstStyle/>
          <a:p>
            <a:pPr algn="l">
              <a:defRPr i="0" sz="1600" b="1">
                <a:solidFill>
                  <a:srgbClr val="FFFFFF"/>
                </a:solidFill>
                <a:latin typeface="Albert Sans"/>
              </a:defRPr>
            </a:pPr>
            <a:r>
              <a:rPr i="0" sz="1600" b="1">
                <a:solidFill>
                  <a:srgbClr val="FFFFFF"/>
                </a:solidFill>
                <a:latin typeface="Albert Sans"/>
              </a:rPr>
              <a:t>HVAC</a:t>
            </a:r>
          </a:p>
        </p:txBody>
      </p:sp>
      <p:sp>
        <p:nvSpPr>
          <p:cNvPr id="25" name="Rounded Rectangle 24"/>
          <p:cNvSpPr/>
          <p:nvPr/>
        </p:nvSpPr>
        <p:spPr>
          <a:xfrm>
            <a:off x="11811000" y="3111500"/>
            <a:ext cx="254000" cy="254000"/>
          </a:xfrm>
          <a:prstGeom prst="roundRect">
            <a:avLst>
              <a:gd name="adj" fmla="val 50000"/>
            </a:avLst>
          </a:prstGeom>
          <a:solidFill>
            <a:srgbClr val="FFFFFF"/>
          </a:solidFill>
          <a:ln w="508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ounded Rectangle 25"/>
          <p:cNvSpPr/>
          <p:nvPr/>
        </p:nvSpPr>
        <p:spPr>
          <a:xfrm>
            <a:off x="10287000" y="3568700"/>
            <a:ext cx="3302000" cy="3543300"/>
          </a:xfrm>
          <a:prstGeom prst="roundRect">
            <a:avLst>
              <a:gd name="adj" fmla="val 6153"/>
            </a:avLst>
          </a:prstGeom>
          <a:solidFill>
            <a:srgbClr val="FFFF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Rounded Rectangle 26"/>
          <p:cNvSpPr/>
          <p:nvPr/>
        </p:nvSpPr>
        <p:spPr>
          <a:xfrm>
            <a:off x="11633200" y="3873500"/>
            <a:ext cx="609600" cy="609600"/>
          </a:xfrm>
          <a:prstGeom prst="roundRect">
            <a:avLst>
              <a:gd name="adj" fmla="val 500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7"/>
          <p:cNvSpPr txBox="1"/>
          <p:nvPr/>
        </p:nvSpPr>
        <p:spPr>
          <a:xfrm>
            <a:off x="10591800" y="4686300"/>
            <a:ext cx="2717800" cy="342900"/>
          </a:xfrm>
          <a:prstGeom prst="rect">
            <a:avLst/>
          </a:prstGeom>
          <a:noFill/>
        </p:spPr>
        <p:txBody>
          <a:bodyPr wrap="square" lIns="0" rIns="0" tIns="0" bIns="0">
            <a:spAutoFit/>
          </a:bodyPr>
          <a:lstStyle/>
          <a:p>
            <a:pPr algn="ctr">
              <a:defRPr i="0" sz="1800" b="1">
                <a:solidFill>
                  <a:srgbClr val="111827"/>
                </a:solidFill>
                <a:latin typeface="Albert Sans"/>
              </a:defRPr>
            </a:pPr>
            <a:r>
              <a:rPr i="0" sz="1800" b="1">
                <a:solidFill>
                  <a:srgbClr val="111827"/>
                </a:solidFill>
                <a:latin typeface="Albert Sans"/>
              </a:rPr>
              <a:t>Dynamic Climate</a:t>
            </a:r>
          </a:p>
        </p:txBody>
      </p:sp>
      <p:sp>
        <p:nvSpPr>
          <p:cNvPr id="29" name="TextBox 28"/>
          <p:cNvSpPr txBox="1"/>
          <p:nvPr/>
        </p:nvSpPr>
        <p:spPr>
          <a:xfrm>
            <a:off x="10591800" y="5029200"/>
            <a:ext cx="2717800" cy="342900"/>
          </a:xfrm>
          <a:prstGeom prst="rect">
            <a:avLst/>
          </a:prstGeom>
          <a:noFill/>
        </p:spPr>
        <p:txBody>
          <a:bodyPr wrap="square" lIns="0" rIns="0" tIns="0" bIns="0">
            <a:spAutoFit/>
          </a:bodyPr>
          <a:lstStyle/>
          <a:p>
            <a:pPr algn="ctr">
              <a:defRPr i="0" sz="1800" b="1">
                <a:solidFill>
                  <a:srgbClr val="111827"/>
                </a:solidFill>
                <a:latin typeface="Albert Sans"/>
              </a:defRPr>
            </a:pPr>
            <a:r>
              <a:rPr i="0" sz="1800" b="1">
                <a:solidFill>
                  <a:srgbClr val="111827"/>
                </a:solidFill>
                <a:latin typeface="Albert Sans"/>
              </a:rPr>
              <a:t>Control</a:t>
            </a:r>
          </a:p>
        </p:txBody>
      </p:sp>
      <p:sp>
        <p:nvSpPr>
          <p:cNvPr id="30" name="TextBox 29"/>
          <p:cNvSpPr txBox="1"/>
          <p:nvPr/>
        </p:nvSpPr>
        <p:spPr>
          <a:xfrm>
            <a:off x="10591800" y="5524500"/>
            <a:ext cx="2717800" cy="1333500"/>
          </a:xfrm>
          <a:prstGeom prst="rect">
            <a:avLst/>
          </a:prstGeom>
          <a:noFill/>
        </p:spPr>
        <p:txBody>
          <a:bodyPr wrap="square" lIns="0" rIns="0" tIns="0" bIns="0">
            <a:spAutoFit/>
          </a:bodyPr>
          <a:lstStyle/>
          <a:p>
            <a:pPr algn="ctr">
              <a:lnSpc>
                <a:spcPct val="120000"/>
              </a:lnSpc>
              <a:defRPr i="0" sz="1400" b="0">
                <a:solidFill>
                  <a:srgbClr val="6B7280"/>
                </a:solidFill>
                <a:latin typeface="Albert Sans"/>
              </a:defRPr>
            </a:pPr>
            <a:r>
              <a:rPr i="0" sz="1400" b="0">
                <a:solidFill>
                  <a:srgbClr val="6B7280"/>
                </a:solidFill>
                <a:latin typeface="Albert Sans"/>
              </a:rPr>
              <a:t>Maintain air quality by automating ventilation during </a:t>
            </a:r>
            <a:r>
              <a:rPr i="0" sz="1400" b="1">
                <a:solidFill>
                  <a:srgbClr val="6B7280"/>
                </a:solidFill>
                <a:latin typeface="Albert Sans"/>
              </a:rPr>
              <a:t>humidity spikes</a:t>
            </a:r>
            <a:r>
              <a:rPr i="0" sz="1400" b="0">
                <a:solidFill>
                  <a:srgbClr val="6B7280"/>
                </a:solidFill>
                <a:latin typeface="Albert Sans"/>
              </a:rPr>
              <a:t>. This logic ensures a healthy and comfortable environment.</a:t>
            </a:r>
          </a:p>
        </p:txBody>
      </p:sp>
      <p:sp>
        <p:nvSpPr>
          <p:cNvPr id="31" name="Rounded Rectangle 30"/>
          <p:cNvSpPr/>
          <p:nvPr/>
        </p:nvSpPr>
        <p:spPr>
          <a:xfrm>
            <a:off x="914400" y="8712200"/>
            <a:ext cx="147320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ounded Rectangle 31"/>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24012ed-c96f-4efa-8f18-13d1483b0016.png"/>
          <p:cNvPicPr>
            <a:picLocks noChangeAspect="1"/>
          </p:cNvPicPr>
          <p:nvPr/>
        </p:nvPicPr>
        <p:blipFill>
          <a:blip r:embed="rId3"/>
          <a:stretch>
            <a:fillRect/>
          </a:stretch>
        </p:blipFill>
        <p:spPr>
          <a:xfrm>
            <a:off x="10401300" y="0"/>
            <a:ext cx="5854700" cy="6604000"/>
          </a:xfrm>
          <a:prstGeom prst="rect">
            <a:avLst/>
          </a:prstGeom>
        </p:spPr>
      </p:pic>
      <p:sp>
        <p:nvSpPr>
          <p:cNvPr id="3" name="Rounded Rectangle 2"/>
          <p:cNvSpPr/>
          <p:nvPr/>
        </p:nvSpPr>
        <p:spPr>
          <a:xfrm>
            <a:off x="9893300" y="3810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ounded Rectangle 3"/>
          <p:cNvSpPr/>
          <p:nvPr/>
        </p:nvSpPr>
        <p:spPr>
          <a:xfrm>
            <a:off x="9893300" y="6858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9893300" y="9906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9600" y="406400"/>
            <a:ext cx="8750300" cy="2565400"/>
          </a:xfrm>
          <a:prstGeom prst="rect">
            <a:avLst/>
          </a:prstGeom>
          <a:noFill/>
        </p:spPr>
        <p:txBody>
          <a:bodyPr wrap="square" lIns="0" rIns="0" tIns="0" bIns="0">
            <a:spAutoFit/>
          </a:bodyPr>
          <a:lstStyle/>
          <a:p>
            <a:pPr algn="l">
              <a:lnSpc>
                <a:spcPct val="75000"/>
              </a:lnSpc>
              <a:defRPr i="0" sz="6400" b="1">
                <a:solidFill>
                  <a:srgbClr val="111827"/>
                </a:solidFill>
                <a:latin typeface="Albert Sans"/>
              </a:defRPr>
            </a:pPr>
            <a:r>
              <a:rPr i="0" sz="6400" b="1">
                <a:solidFill>
                  <a:srgbClr val="111827"/>
                </a:solidFill>
                <a:latin typeface="Albert Sans"/>
              </a:rPr>
              <a:t>Achieving Unified Smart Home Interoperability</a:t>
            </a:r>
          </a:p>
        </p:txBody>
      </p:sp>
      <p:sp>
        <p:nvSpPr>
          <p:cNvPr id="7" name="TextBox 6"/>
          <p:cNvSpPr txBox="1"/>
          <p:nvPr/>
        </p:nvSpPr>
        <p:spPr>
          <a:xfrm>
            <a:off x="609600" y="3225800"/>
            <a:ext cx="7899400" cy="977900"/>
          </a:xfrm>
          <a:prstGeom prst="rect">
            <a:avLst/>
          </a:prstGeom>
          <a:noFill/>
        </p:spPr>
        <p:txBody>
          <a:bodyPr wrap="square" lIns="0" rIns="0" tIns="0" bIns="0">
            <a:spAutoFit/>
          </a:bodyPr>
          <a:lstStyle/>
          <a:p>
            <a:pPr algn="l">
              <a:lnSpc>
                <a:spcPct val="130000"/>
              </a:lnSpc>
              <a:defRPr i="0" sz="1600" b="0">
                <a:solidFill>
                  <a:srgbClr val="6B7280"/>
                </a:solidFill>
                <a:latin typeface="Albert Sans"/>
              </a:defRPr>
            </a:pPr>
            <a:r>
              <a:rPr i="0" sz="1600" b="0">
                <a:solidFill>
                  <a:srgbClr val="6B7280"/>
                </a:solidFill>
                <a:latin typeface="Albert Sans"/>
              </a:rPr>
              <a:t>Integrating </a:t>
            </a:r>
            <a:r>
              <a:rPr i="0" sz="1600" b="1">
                <a:solidFill>
                  <a:srgbClr val="6B7280"/>
                </a:solidFill>
                <a:latin typeface="Albert Sans"/>
              </a:rPr>
              <a:t>Shelly, Hue, and Aqara</a:t>
            </a:r>
            <a:r>
              <a:rPr i="0" sz="1600" b="0">
                <a:solidFill>
                  <a:srgbClr val="6B7280"/>
                </a:solidFill>
                <a:latin typeface="Albert Sans"/>
              </a:rPr>
              <a:t> into one interface creates a cohesive ecosystem. This 100% locally controlled setup enhances security and convenience while maximizing energy efficiency.</a:t>
            </a:r>
          </a:p>
        </p:txBody>
      </p:sp>
      <p:sp>
        <p:nvSpPr>
          <p:cNvPr id="8" name="Rounded Rectangle 7"/>
          <p:cNvSpPr/>
          <p:nvPr/>
        </p:nvSpPr>
        <p:spPr>
          <a:xfrm>
            <a:off x="609600" y="4495800"/>
            <a:ext cx="3987800" cy="635000"/>
          </a:xfrm>
          <a:prstGeom prst="roundRect">
            <a:avLst>
              <a:gd name="adj" fmla="val 8000"/>
            </a:avLst>
          </a:prstGeom>
          <a:solidFill>
            <a:srgbClr val="BFF4FF"/>
          </a:solidFill>
          <a:ln w="127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a:off x="825500" y="4660900"/>
            <a:ext cx="101600" cy="3048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130300" y="4660900"/>
            <a:ext cx="20447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Smart Home Strategy</a:t>
            </a:r>
          </a:p>
        </p:txBody>
      </p:sp>
      <p:sp>
        <p:nvSpPr>
          <p:cNvPr id="11" name="TextBox 10"/>
          <p:cNvSpPr txBox="1"/>
          <p:nvPr/>
        </p:nvSpPr>
        <p:spPr>
          <a:xfrm>
            <a:off x="3302000" y="4686300"/>
            <a:ext cx="1104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Jan 09, 2026</a:t>
            </a:r>
          </a:p>
        </p:txBody>
      </p:sp>
      <p:sp>
        <p:nvSpPr>
          <p:cNvPr id="12" name="Rounded Rectangle 11"/>
          <p:cNvSpPr/>
          <p:nvPr/>
        </p:nvSpPr>
        <p:spPr>
          <a:xfrm>
            <a:off x="914400" y="8712200"/>
            <a:ext cx="147320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ounded Rectangle 12"/>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